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sldIdLst>
    <p:sldId id="256" r:id="rId5"/>
    <p:sldId id="257" r:id="rId6"/>
    <p:sldId id="258" r:id="rId7"/>
    <p:sldId id="259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862023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376621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453333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770088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609878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574113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124298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162843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8272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130102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839574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A17991C-5D85-4807-B805-89C028F9BB29}" type="datetimeFigureOut">
              <a:rPr lang="ar-EG" smtClean="0"/>
              <a:t>23/11/1447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9D553F0-70B8-4C2B-9D14-9400986AB0F0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1111807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FB6D5-224A-BC5A-B4A6-EE14D56371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3896" y="1041400"/>
            <a:ext cx="10038735" cy="2387600"/>
          </a:xfrm>
        </p:spPr>
        <p:txBody>
          <a:bodyPr/>
          <a:lstStyle/>
          <a:p>
            <a:pPr rtl="0"/>
            <a:r>
              <a:rPr lang="en-US" dirty="0"/>
              <a:t>Deep Drowsiness Detection</a:t>
            </a:r>
            <a:endParaRPr lang="ar-E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2C2D80-78D2-8488-25F7-EB07D33695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CNN from scratch and Transfer learning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CE5B44-C968-63EC-DF90-C4ADCAF12216}"/>
              </a:ext>
            </a:extLst>
          </p:cNvPr>
          <p:cNvSpPr txBox="1"/>
          <p:nvPr/>
        </p:nvSpPr>
        <p:spPr>
          <a:xfrm>
            <a:off x="943896" y="5349875"/>
            <a:ext cx="5152104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/>
              <a:t>Student1 Name: salah </a:t>
            </a:r>
            <a:r>
              <a:rPr lang="en-US" dirty="0" err="1"/>
              <a:t>eldin</a:t>
            </a:r>
            <a:r>
              <a:rPr lang="en-US" dirty="0"/>
              <a:t> mountaser</a:t>
            </a:r>
          </a:p>
          <a:p>
            <a:r>
              <a:rPr lang="en-US" dirty="0"/>
              <a:t>ID: 240102746</a:t>
            </a:r>
          </a:p>
          <a:p>
            <a:r>
              <a:rPr lang="en-US" dirty="0"/>
              <a:t>Student2 Name: Mohamed Kamel Wagdy Kamel</a:t>
            </a:r>
          </a:p>
          <a:p>
            <a:r>
              <a:rPr lang="en-US" dirty="0"/>
              <a:t>ID: 240103400 </a:t>
            </a:r>
          </a:p>
          <a:p>
            <a:endParaRPr lang="ar-EG" dirty="0"/>
          </a:p>
        </p:txBody>
      </p:sp>
    </p:spTree>
    <p:extLst>
      <p:ext uri="{BB962C8B-B14F-4D97-AF65-F5344CB8AC3E}">
        <p14:creationId xmlns:p14="http://schemas.microsoft.com/office/powerpoint/2010/main" val="295690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1AC5B-55D1-EF52-C7B8-E84BD9520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rtl="0"/>
            <a:r>
              <a:rPr lang="en-US" sz="3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🧠 Section 1: Training a Model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9D9D36-40FB-9AEF-1ECE-5103B273EE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858" y="1660479"/>
            <a:ext cx="9822426" cy="4814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62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DD5E76-B359-0B99-D030-61ACBDF89D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35" y="604684"/>
            <a:ext cx="11179277" cy="5572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608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C47644-837A-416A-D6DB-34E26171C8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678" y="752167"/>
            <a:ext cx="10854812" cy="535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183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E6D77-749A-3D88-0E58-F5F95663B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Convolution Neural Nets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4EF1954-09F6-614A-36E1-52FEEF520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95" y="1825625"/>
            <a:ext cx="941601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383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D7D62-99DA-118E-FA02-ABDBBC19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?</a:t>
            </a:r>
            <a:r>
              <a:rPr lang="ar-EG" dirty="0"/>
              <a:t> </a:t>
            </a:r>
            <a:r>
              <a:rPr lang="en-US" dirty="0"/>
              <a:t>What is pooling</a:t>
            </a:r>
            <a:endParaRPr lang="ar-EG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9BE619-C997-A5D6-354B-6C10236BED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141" y="1690688"/>
            <a:ext cx="10117393" cy="469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517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A7969-8BF8-9996-7EC7-57DF1152C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CNN Architecture</a:t>
            </a:r>
            <a:endParaRPr lang="ar-EG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04752B-2F59-E365-192F-387334B12C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987" y="1825625"/>
            <a:ext cx="905405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606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4EB62-6F0C-AF59-E8CC-649B1B16A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dirty="0"/>
              <a:t>-:</a:t>
            </a:r>
            <a:r>
              <a:rPr lang="en-US" dirty="0"/>
              <a:t>Build CNN model from scratch</a:t>
            </a:r>
            <a:endParaRPr lang="ar-E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D5369-323D-BD0C-1AF5-94D496F5A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dirty="0"/>
              <a:t>1- Data Preprocessing</a:t>
            </a:r>
          </a:p>
          <a:p>
            <a:pPr marL="0" indent="0" algn="l">
              <a:buNone/>
            </a:pPr>
            <a:r>
              <a:rPr lang="en-US" dirty="0"/>
              <a:t>2- Build the Model</a:t>
            </a:r>
          </a:p>
          <a:p>
            <a:pPr marL="0" indent="0" algn="l">
              <a:buNone/>
            </a:pPr>
            <a:r>
              <a:rPr lang="en-US" dirty="0"/>
              <a:t>3- Train the model</a:t>
            </a:r>
          </a:p>
          <a:p>
            <a:pPr marL="0" indent="0" algn="l">
              <a:buNone/>
            </a:pPr>
            <a:r>
              <a:rPr lang="en-US" dirty="0"/>
              <a:t>4- Validation</a:t>
            </a:r>
          </a:p>
          <a:p>
            <a:pPr marL="0" indent="0" algn="l">
              <a:buNone/>
            </a:pPr>
            <a:r>
              <a:rPr lang="en-US" dirty="0"/>
              <a:t>5- Test the Model</a:t>
            </a:r>
          </a:p>
          <a:p>
            <a:pPr marL="0" indent="0" algn="l">
              <a:buNone/>
            </a:pPr>
            <a:r>
              <a:rPr lang="en-US" dirty="0"/>
              <a:t>6- Evaluation</a:t>
            </a:r>
            <a:endParaRPr lang="ar-EG" dirty="0"/>
          </a:p>
        </p:txBody>
      </p:sp>
    </p:spTree>
    <p:extLst>
      <p:ext uri="{BB962C8B-B14F-4D97-AF65-F5344CB8AC3E}">
        <p14:creationId xmlns:p14="http://schemas.microsoft.com/office/powerpoint/2010/main" val="3904626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7EEE-1C1B-89A0-09EB-8D16880AC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602"/>
            <a:ext cx="10515600" cy="1325563"/>
          </a:xfrm>
        </p:spPr>
        <p:txBody>
          <a:bodyPr/>
          <a:lstStyle/>
          <a:p>
            <a:r>
              <a:rPr lang="en-US" dirty="0"/>
              <a:t>1- Preprocessing</a:t>
            </a:r>
            <a:endParaRPr lang="ar-E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36BC9-360A-AF77-0B13-E3C54D7BB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9883"/>
            <a:ext cx="6226277" cy="2082698"/>
          </a:xfrm>
        </p:spPr>
        <p:txBody>
          <a:bodyPr/>
          <a:lstStyle/>
          <a:p>
            <a:pPr marL="0" indent="0" algn="l">
              <a:buNone/>
            </a:pPr>
            <a:r>
              <a:rPr lang="en-US" dirty="0"/>
              <a:t>1- Convert to grayscale</a:t>
            </a:r>
          </a:p>
          <a:p>
            <a:pPr marL="0" indent="0" algn="l">
              <a:buNone/>
            </a:pPr>
            <a:r>
              <a:rPr lang="en-US" dirty="0"/>
              <a:t>2- Resize image</a:t>
            </a:r>
          </a:p>
          <a:p>
            <a:pPr marL="0" indent="0" algn="l">
              <a:buNone/>
            </a:pPr>
            <a:r>
              <a:rPr lang="en-US" dirty="0"/>
              <a:t>3- Normalization</a:t>
            </a:r>
            <a:endParaRPr lang="ar-EG" dirty="0"/>
          </a:p>
        </p:txBody>
      </p:sp>
    </p:spTree>
    <p:extLst>
      <p:ext uri="{BB962C8B-B14F-4D97-AF65-F5344CB8AC3E}">
        <p14:creationId xmlns:p14="http://schemas.microsoft.com/office/powerpoint/2010/main" val="795742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A5DC7E-2111-0789-2EB5-1D868A3D15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161" y="643466"/>
            <a:ext cx="10530349" cy="5786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0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92F1C-91C8-1422-7478-CAFEE230A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the model</a:t>
            </a:r>
            <a:endParaRPr lang="ar-EG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DB5923A-2541-AE71-20E7-533676B79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4490" y="1690688"/>
            <a:ext cx="7757652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559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54E8214-E384-83CD-9DB8-AACD8ED12E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479" y="643466"/>
            <a:ext cx="7819041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802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0897E1-34ED-D07E-EB0F-A55A4CD26C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479719"/>
            <a:ext cx="10905066" cy="3898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3882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41876-066D-291E-0BD7-D1C434B09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8" y="527357"/>
            <a:ext cx="10515600" cy="1325563"/>
          </a:xfrm>
        </p:spPr>
        <p:txBody>
          <a:bodyPr/>
          <a:lstStyle/>
          <a:p>
            <a:r>
              <a:rPr lang="en-US" b="1" dirty="0"/>
              <a:t>Transfer Learning Approach (MobileNetV2)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20D42-EA5B-E0BE-7AC5-4BB12FACD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742" y="2719081"/>
            <a:ext cx="10515600" cy="2286000"/>
          </a:xfrm>
        </p:spPr>
        <p:txBody>
          <a:bodyPr/>
          <a:lstStyle/>
          <a:p>
            <a:pPr marL="0" indent="0" algn="l">
              <a:buNone/>
            </a:pPr>
            <a:r>
              <a:rPr lang="en-US" dirty="0"/>
              <a:t>1- </a:t>
            </a:r>
            <a:r>
              <a:rPr lang="en-US" b="1" dirty="0"/>
              <a:t>Stage 1: Head Training (Feature Extractor Frozen)</a:t>
            </a:r>
          </a:p>
          <a:p>
            <a:pPr marL="0" indent="0" algn="l">
              <a:buNone/>
            </a:pPr>
            <a:r>
              <a:rPr lang="en-US" dirty="0"/>
              <a:t>2- </a:t>
            </a:r>
            <a:r>
              <a:rPr lang="en-US" b="1" dirty="0"/>
              <a:t>Stage 2: Fine-Tuning (Partial Unfreezing)</a:t>
            </a:r>
          </a:p>
        </p:txBody>
      </p:sp>
    </p:spTree>
    <p:extLst>
      <p:ext uri="{BB962C8B-B14F-4D97-AF65-F5344CB8AC3E}">
        <p14:creationId xmlns:p14="http://schemas.microsoft.com/office/powerpoint/2010/main" val="2081090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853C1-6EA5-EE14-ECDD-A3CFCD768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Stage 1: Head Training (Feature Extractor Frozen)</a:t>
            </a:r>
            <a:endParaRPr lang="ar-EG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7E55F-925B-123E-F9DD-5A43B2367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484" y="1825625"/>
            <a:ext cx="11206316" cy="4667250"/>
          </a:xfrm>
        </p:spPr>
        <p:txBody>
          <a:bodyPr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dirty="0"/>
              <a:t>- In this stage, the entire </a:t>
            </a:r>
            <a:r>
              <a:rPr lang="en-US" b="1" dirty="0"/>
              <a:t>MobileNetV2 base model was frozen</a:t>
            </a:r>
            <a:r>
              <a:rPr lang="en-US" dirty="0"/>
              <a:t>:</a:t>
            </a:r>
          </a:p>
          <a:p>
            <a:pPr marL="0" indent="0" algn="l">
              <a:buNone/>
            </a:pPr>
            <a:r>
              <a:rPr lang="en-US" dirty="0"/>
              <a:t>We added a custom classification head on top of it:</a:t>
            </a:r>
          </a:p>
          <a:p>
            <a:pPr algn="l" rtl="0"/>
            <a:r>
              <a:rPr lang="en-US" dirty="0"/>
              <a:t>GlobalAveragePooling2D </a:t>
            </a:r>
          </a:p>
          <a:p>
            <a:pPr algn="l" rtl="0"/>
            <a:r>
              <a:rPr lang="en-US" dirty="0"/>
              <a:t>Dense layer (64 units, </a:t>
            </a:r>
            <a:r>
              <a:rPr lang="en-US" dirty="0" err="1"/>
              <a:t>ReLU</a:t>
            </a:r>
            <a:r>
              <a:rPr lang="en-US" dirty="0"/>
              <a:t> activation) </a:t>
            </a:r>
          </a:p>
          <a:p>
            <a:pPr algn="l" rtl="0"/>
            <a:r>
              <a:rPr lang="en-US" dirty="0"/>
              <a:t>Dropout (0.3) </a:t>
            </a:r>
          </a:p>
          <a:p>
            <a:pPr algn="l" rtl="0"/>
            <a:r>
              <a:rPr lang="en-US" dirty="0"/>
              <a:t>Dense layer (1 unit, Sigmoid activation) </a:t>
            </a:r>
          </a:p>
          <a:p>
            <a:pPr algn="l" rtl="0"/>
            <a:r>
              <a:rPr lang="en-US" dirty="0"/>
              <a:t>Only the newly added layers were trained using a </a:t>
            </a:r>
            <a:r>
              <a:rPr lang="en-US" b="1" dirty="0"/>
              <a:t>learning rate of 1e-3</a:t>
            </a:r>
            <a:r>
              <a:rPr lang="en-US" dirty="0"/>
              <a:t>.</a:t>
            </a:r>
          </a:p>
          <a:p>
            <a:pPr marL="0" indent="0" algn="l">
              <a:buNone/>
            </a:pPr>
            <a:r>
              <a:rPr lang="en-US" b="1" dirty="0"/>
              <a:t>Goal:</a:t>
            </a:r>
          </a:p>
          <a:p>
            <a:pPr marL="0" indent="0" algn="l">
              <a:buNone/>
            </a:pPr>
            <a:r>
              <a:rPr lang="en-US" dirty="0"/>
              <a:t>To quickly learn how to classify the data using the already extracted features from MobileNetV2, without modifying the pre-trained weights.</a:t>
            </a:r>
          </a:p>
          <a:p>
            <a:pPr marL="0" indent="0" algn="l">
              <a:buNone/>
            </a:pPr>
            <a:endParaRPr lang="ar-EG" dirty="0"/>
          </a:p>
        </p:txBody>
      </p:sp>
    </p:spTree>
    <p:extLst>
      <p:ext uri="{BB962C8B-B14F-4D97-AF65-F5344CB8AC3E}">
        <p14:creationId xmlns:p14="http://schemas.microsoft.com/office/powerpoint/2010/main" val="21333134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8191C-8E57-46CA-04E9-B60F4C1CE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Stage 2: Fine-Tuning (Partial Unfreezing)</a:t>
            </a:r>
            <a:endParaRPr lang="ar-EG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B3FCA-F513-CBC1-863A-A0A205CE8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8864"/>
            <a:ext cx="10515600" cy="3882001"/>
          </a:xfrm>
        </p:spPr>
        <p:txBody>
          <a:bodyPr/>
          <a:lstStyle/>
          <a:p>
            <a:pPr marL="0" indent="0" algn="l" rtl="0">
              <a:buNone/>
            </a:pPr>
            <a:r>
              <a:rPr lang="en-US" dirty="0"/>
              <a:t>-In this stage, we </a:t>
            </a:r>
            <a:r>
              <a:rPr lang="en-US" dirty="0" err="1"/>
              <a:t>unfreezed</a:t>
            </a:r>
            <a:r>
              <a:rPr lang="en-US" dirty="0"/>
              <a:t> part of the base model:</a:t>
            </a:r>
          </a:p>
          <a:p>
            <a:pPr algn="l" rtl="0"/>
            <a:r>
              <a:rPr lang="en-US" dirty="0"/>
              <a:t>This means only the </a:t>
            </a:r>
            <a:r>
              <a:rPr lang="en-US" b="1" dirty="0"/>
              <a:t>last 20 layers of MobileNetV2</a:t>
            </a:r>
            <a:r>
              <a:rPr lang="en-US" dirty="0"/>
              <a:t> were trainable, while the rest remained frozen.</a:t>
            </a:r>
          </a:p>
          <a:p>
            <a:pPr algn="l" rtl="0"/>
            <a:r>
              <a:rPr lang="en-US" dirty="0"/>
              <a:t>We used a much smaller learning rate of </a:t>
            </a:r>
            <a:r>
              <a:rPr lang="en-US" b="1" dirty="0"/>
              <a:t>1e-5</a:t>
            </a:r>
            <a:r>
              <a:rPr lang="en-US" dirty="0"/>
              <a:t> to avoid destroying the pre-trained weights.</a:t>
            </a:r>
          </a:p>
          <a:p>
            <a:pPr algn="l" rtl="0"/>
            <a:r>
              <a:rPr lang="en-US" b="1" dirty="0"/>
              <a:t>Goal:</a:t>
            </a:r>
          </a:p>
          <a:p>
            <a:pPr algn="l" rtl="0"/>
            <a:r>
              <a:rPr lang="en-US" dirty="0"/>
              <a:t>To slightly adjust the high-level features of the model so they better fit our specific dataset.</a:t>
            </a:r>
          </a:p>
          <a:p>
            <a:pPr marL="0" indent="0" algn="l" rtl="0">
              <a:buNone/>
            </a:pPr>
            <a:endParaRPr lang="ar-EG" dirty="0"/>
          </a:p>
        </p:txBody>
      </p:sp>
    </p:spTree>
    <p:extLst>
      <p:ext uri="{BB962C8B-B14F-4D97-AF65-F5344CB8AC3E}">
        <p14:creationId xmlns:p14="http://schemas.microsoft.com/office/powerpoint/2010/main" val="4277317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A331A-FD26-475D-8314-3DC64E38BE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27" r="16148" b="-1"/>
          <a:stretch>
            <a:fillRect/>
          </a:stretch>
        </p:blipFill>
        <p:spPr>
          <a:xfrm>
            <a:off x="547545" y="547545"/>
            <a:ext cx="11088962" cy="5762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2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8101B20-7742-2519-7F17-9709988B02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43898"/>
            <a:ext cx="10515600" cy="458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8367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D5E856-F36F-81F9-4A40-CB04C3EAF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181" y="560881"/>
            <a:ext cx="9795638" cy="11143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 rtl="0"/>
            <a:r>
              <a:rPr lang="en-US" sz="5200"/>
              <a:t>Difference Between two model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0CC7F77-FBB6-0E62-9684-D600F462B5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44"/>
          <a:stretch>
            <a:fillRect/>
          </a:stretch>
        </p:blipFill>
        <p:spPr>
          <a:xfrm>
            <a:off x="775273" y="2957665"/>
            <a:ext cx="4640183" cy="3346376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55001C0-AA6B-74FA-999E-0D2583AFBC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05" y="3255787"/>
            <a:ext cx="5828261" cy="27501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4915C3-2EEE-6AE3-C8FE-93ACC1C18995}"/>
              </a:ext>
            </a:extLst>
          </p:cNvPr>
          <p:cNvSpPr txBox="1"/>
          <p:nvPr/>
        </p:nvSpPr>
        <p:spPr>
          <a:xfrm>
            <a:off x="1693887" y="2403706"/>
            <a:ext cx="2443397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800" dirty="0"/>
              <a:t>From Scratch</a:t>
            </a:r>
            <a:endParaRPr lang="ar-EG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75750-F28E-F8E1-6189-21AE71F63505}"/>
              </a:ext>
            </a:extLst>
          </p:cNvPr>
          <p:cNvSpPr txBox="1"/>
          <p:nvPr/>
        </p:nvSpPr>
        <p:spPr>
          <a:xfrm>
            <a:off x="7932180" y="2696093"/>
            <a:ext cx="2381101" cy="46166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2400"/>
              <a:t>Transfer </a:t>
            </a:r>
            <a:r>
              <a:rPr lang="en-US" sz="2400" dirty="0"/>
              <a:t>learning</a:t>
            </a:r>
            <a:endParaRPr lang="ar-EG" sz="2400" dirty="0"/>
          </a:p>
        </p:txBody>
      </p:sp>
    </p:spTree>
    <p:extLst>
      <p:ext uri="{BB962C8B-B14F-4D97-AF65-F5344CB8AC3E}">
        <p14:creationId xmlns:p14="http://schemas.microsoft.com/office/powerpoint/2010/main" val="3757184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e886593-0308-41ce-bff6-12aea470ebf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ADEBEED7BFFA24AB411D7E49103B976" ma:contentTypeVersion="6" ma:contentTypeDescription="Create a new document." ma:contentTypeScope="" ma:versionID="74613d6acd28048f1286bc09e664a7bc">
  <xsd:schema xmlns:xsd="http://www.w3.org/2001/XMLSchema" xmlns:xs="http://www.w3.org/2001/XMLSchema" xmlns:p="http://schemas.microsoft.com/office/2006/metadata/properties" xmlns:ns3="8e886593-0308-41ce-bff6-12aea470ebf6" targetNamespace="http://schemas.microsoft.com/office/2006/metadata/properties" ma:root="true" ma:fieldsID="6124907e17b860a1dc00b8fefc4b13af" ns3:_="">
    <xsd:import namespace="8e886593-0308-41ce-bff6-12aea470ebf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886593-0308-41ce-bff6-12aea470ebf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209922B-9A2E-4EF7-8D3A-D88AD0B389E7}">
  <ds:schemaRefs>
    <ds:schemaRef ds:uri="http://schemas.microsoft.com/office/2006/metadata/properties"/>
    <ds:schemaRef ds:uri="http://www.w3.org/XML/1998/namespace"/>
    <ds:schemaRef ds:uri="http://purl.org/dc/elements/1.1/"/>
    <ds:schemaRef ds:uri="http://purl.org/dc/dcmitype/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e886593-0308-41ce-bff6-12aea470ebf6"/>
  </ds:schemaRefs>
</ds:datastoreItem>
</file>

<file path=customXml/itemProps2.xml><?xml version="1.0" encoding="utf-8"?>
<ds:datastoreItem xmlns:ds="http://schemas.openxmlformats.org/officeDocument/2006/customXml" ds:itemID="{B087AE51-E640-4A1D-AA6C-C87B378D71C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C2923A-0627-4E35-8056-19712D9847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886593-0308-41ce-bff6-12aea470ebf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</TotalTime>
  <Words>286</Words>
  <Application>Microsoft Office PowerPoint</Application>
  <PresentationFormat>Widescreen</PresentationFormat>
  <Paragraphs>44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Deep Drowsiness Detection</vt:lpstr>
      <vt:lpstr>🧠 Section 1: Training a Model</vt:lpstr>
      <vt:lpstr>PowerPoint Presentation</vt:lpstr>
      <vt:lpstr>PowerPoint Presentation</vt:lpstr>
      <vt:lpstr>Convolution Neural Nets</vt:lpstr>
      <vt:lpstr>? What is pooling</vt:lpstr>
      <vt:lpstr>CNN Architecture</vt:lpstr>
      <vt:lpstr>-:Build CNN model from scratch</vt:lpstr>
      <vt:lpstr>1- Preprocessing</vt:lpstr>
      <vt:lpstr>PowerPoint Presentation</vt:lpstr>
      <vt:lpstr>Evaluation the model</vt:lpstr>
      <vt:lpstr>PowerPoint Presentation</vt:lpstr>
      <vt:lpstr>PowerPoint Presentation</vt:lpstr>
      <vt:lpstr>Transfer Learning Approach (MobileNetV2)</vt:lpstr>
      <vt:lpstr>Stage 1: Head Training (Feature Extractor Frozen)</vt:lpstr>
      <vt:lpstr>Stage 2: Fine-Tuning (Partial Unfreezing)</vt:lpstr>
      <vt:lpstr>PowerPoint Presentation</vt:lpstr>
      <vt:lpstr>PowerPoint Presentation</vt:lpstr>
      <vt:lpstr>Difference Between two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Salaheldin mountaser mohamed haroun</dc:creator>
  <cp:lastModifiedBy>Salaheldin mountaser mohamed haroun</cp:lastModifiedBy>
  <cp:revision>2</cp:revision>
  <dcterms:created xsi:type="dcterms:W3CDTF">2026-05-09T14:07:42Z</dcterms:created>
  <dcterms:modified xsi:type="dcterms:W3CDTF">2026-05-09T15:43:20Z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0x0101008ADEBEED7BFFA24AB411D7E49103B976</vt:lpwstr>
  </property>
</Properties>
</file>