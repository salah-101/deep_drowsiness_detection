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6202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7662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5333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7008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0987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7411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2429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6284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272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3010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3957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A17991C-5D85-4807-B805-89C028F9BB29}" type="datetimeFigureOut">
              <a:rPr lang="ar-EG" smtClean="0"/>
              <a:t>25/11/1447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9D553F0-70B8-4C2B-9D14-9400986AB0F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11180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B6D5-224A-BC5A-B4A6-EE14D5637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3896" y="1041400"/>
            <a:ext cx="10038735" cy="2387600"/>
          </a:xfrm>
        </p:spPr>
        <p:txBody>
          <a:bodyPr/>
          <a:lstStyle/>
          <a:p>
            <a:pPr rtl="0"/>
            <a:r>
              <a:rPr lang="en-US" dirty="0"/>
              <a:t>Deep Drowsiness Detection</a:t>
            </a:r>
            <a:endParaRPr lang="ar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C2D80-78D2-8488-25F7-EB07D3369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CNN from scratch and Transfer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E5B44-C968-63EC-DF90-C4ADCAF12216}"/>
              </a:ext>
            </a:extLst>
          </p:cNvPr>
          <p:cNvSpPr txBox="1"/>
          <p:nvPr/>
        </p:nvSpPr>
        <p:spPr>
          <a:xfrm>
            <a:off x="943896" y="5349875"/>
            <a:ext cx="5152104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Student1 Name: salah </a:t>
            </a:r>
            <a:r>
              <a:rPr lang="en-US" dirty="0" err="1"/>
              <a:t>eldin</a:t>
            </a:r>
            <a:r>
              <a:rPr lang="en-US" dirty="0"/>
              <a:t> mountaser</a:t>
            </a:r>
          </a:p>
          <a:p>
            <a:r>
              <a:rPr lang="en-US" dirty="0"/>
              <a:t>ID: 240102746</a:t>
            </a:r>
          </a:p>
          <a:p>
            <a:r>
              <a:rPr lang="en-US" dirty="0"/>
              <a:t>Student2 Name: Mohamed Kamel Wagdy Kamel</a:t>
            </a:r>
          </a:p>
          <a:p>
            <a:r>
              <a:rPr lang="en-US" dirty="0"/>
              <a:t>ID: 240103400 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95690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1AC5B-55D1-EF52-C7B8-E84BD952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🧠 Section 1: Training a Model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9D9D36-40FB-9AEF-1ECE-5103B273E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8" y="1660479"/>
            <a:ext cx="9822426" cy="481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DD5E76-B359-0B99-D030-61ACBDF89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604684"/>
            <a:ext cx="11179277" cy="557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0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47644-837A-416A-D6DB-34E26171C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8" y="752167"/>
            <a:ext cx="10854812" cy="535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8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6D77-749A-3D88-0E58-F5F95663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 Neural Nets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EF1954-09F6-614A-36E1-52FEEF520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95" y="1825625"/>
            <a:ext cx="9416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8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D7D62-99DA-118E-FA02-ABDBBC19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?</a:t>
            </a:r>
            <a:r>
              <a:rPr lang="ar-EG" dirty="0"/>
              <a:t> </a:t>
            </a:r>
            <a:r>
              <a:rPr lang="en-US" dirty="0"/>
              <a:t>What is pooling</a:t>
            </a: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BE619-C997-A5D6-354B-6C10236BE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1" y="1690688"/>
            <a:ext cx="10117393" cy="46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1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7969-8BF8-9996-7EC7-57DF1152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CNN Architecture</a:t>
            </a: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04752B-2F59-E365-192F-387334B12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87" y="1825625"/>
            <a:ext cx="9054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0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EB62-6F0C-AF59-E8CC-649B1B16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-:</a:t>
            </a:r>
            <a:r>
              <a:rPr lang="en-US" dirty="0"/>
              <a:t>Build CNN model from scratch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5369-323D-BD0C-1AF5-94D496F5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1- Data Preprocessing</a:t>
            </a:r>
          </a:p>
          <a:p>
            <a:pPr marL="0" indent="0" algn="l">
              <a:buNone/>
            </a:pPr>
            <a:r>
              <a:rPr lang="en-US" dirty="0"/>
              <a:t>2- Build the Model</a:t>
            </a:r>
          </a:p>
          <a:p>
            <a:pPr marL="0" indent="0" algn="l">
              <a:buNone/>
            </a:pPr>
            <a:r>
              <a:rPr lang="en-US" dirty="0"/>
              <a:t>3- Train the model</a:t>
            </a:r>
          </a:p>
          <a:p>
            <a:pPr marL="0" indent="0" algn="l">
              <a:buNone/>
            </a:pPr>
            <a:r>
              <a:rPr lang="en-US" dirty="0"/>
              <a:t>4- Validation</a:t>
            </a:r>
          </a:p>
          <a:p>
            <a:pPr marL="0" indent="0" algn="l">
              <a:buNone/>
            </a:pPr>
            <a:r>
              <a:rPr lang="en-US" dirty="0"/>
              <a:t>5- Test the Model</a:t>
            </a:r>
          </a:p>
          <a:p>
            <a:pPr marL="0" indent="0" algn="l">
              <a:buNone/>
            </a:pPr>
            <a:r>
              <a:rPr lang="en-US" dirty="0"/>
              <a:t>6- Evaluation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904626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EEE-1C1B-89A0-09EB-8D16880A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602"/>
            <a:ext cx="10515600" cy="1325563"/>
          </a:xfrm>
        </p:spPr>
        <p:txBody>
          <a:bodyPr/>
          <a:lstStyle/>
          <a:p>
            <a:r>
              <a:rPr lang="en-US" dirty="0"/>
              <a:t>1- Preprocessing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6BC9-360A-AF77-0B13-E3C54D7BB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9883"/>
            <a:ext cx="6226277" cy="2082698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/>
              <a:t>1- Convert to grayscale</a:t>
            </a:r>
          </a:p>
          <a:p>
            <a:pPr marL="0" indent="0" algn="l">
              <a:buNone/>
            </a:pPr>
            <a:r>
              <a:rPr lang="en-US" dirty="0"/>
              <a:t>2- Resize image</a:t>
            </a:r>
          </a:p>
          <a:p>
            <a:pPr marL="0" indent="0" algn="l">
              <a:buNone/>
            </a:pPr>
            <a:r>
              <a:rPr lang="en-US" dirty="0"/>
              <a:t>3- Normalization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795742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A5DC7E-2111-0789-2EB5-1D868A3D1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61" y="643466"/>
            <a:ext cx="10530349" cy="578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2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2F1C-91C8-1422-7478-CAFEE230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the model</a:t>
            </a:r>
            <a:endParaRPr lang="ar-E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57D127-4833-F8F3-9AA3-9B10C3F28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10" y="1690688"/>
            <a:ext cx="8937521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59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A26FC5-57DD-0904-B7FB-A4FA7C134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24" y="658214"/>
            <a:ext cx="760555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02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4DB3D8-281B-BAC9-272B-2AA2603C0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79719"/>
            <a:ext cx="10905066" cy="38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88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1876-066D-291E-0BD7-D1C434B0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527357"/>
            <a:ext cx="10515600" cy="1325563"/>
          </a:xfrm>
        </p:spPr>
        <p:txBody>
          <a:bodyPr/>
          <a:lstStyle/>
          <a:p>
            <a:r>
              <a:rPr lang="en-US" b="1" dirty="0"/>
              <a:t>Transfer Learning Approach (MobileNetV2)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0D42-EA5B-E0BE-7AC5-4BB12FACD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2719081"/>
            <a:ext cx="10515600" cy="2286000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/>
              <a:t>1- </a:t>
            </a:r>
            <a:r>
              <a:rPr lang="en-US" b="1" dirty="0"/>
              <a:t>Stage 1: Head Training (Feature Extractor Frozen)</a:t>
            </a:r>
          </a:p>
          <a:p>
            <a:pPr marL="0" indent="0" algn="l">
              <a:buNone/>
            </a:pPr>
            <a:r>
              <a:rPr lang="en-US" dirty="0"/>
              <a:t>2- </a:t>
            </a:r>
            <a:r>
              <a:rPr lang="en-US" b="1" dirty="0"/>
              <a:t>Stage 2: Fine-Tuning (Partial Unfreezing)</a:t>
            </a:r>
          </a:p>
        </p:txBody>
      </p:sp>
    </p:spTree>
    <p:extLst>
      <p:ext uri="{BB962C8B-B14F-4D97-AF65-F5344CB8AC3E}">
        <p14:creationId xmlns:p14="http://schemas.microsoft.com/office/powerpoint/2010/main" val="208109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53C1-6EA5-EE14-ECDD-A3CFCD76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Stage 1: Head Training (Feature Extractor Frozen)</a:t>
            </a:r>
            <a:endParaRPr lang="ar-E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7E55F-925B-123E-F9DD-5A43B2367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825625"/>
            <a:ext cx="11206316" cy="466725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dirty="0"/>
              <a:t>- In this stage, the entire </a:t>
            </a:r>
            <a:r>
              <a:rPr lang="en-US" b="1" dirty="0"/>
              <a:t>MobileNetV2 base model was frozen</a:t>
            </a:r>
            <a:r>
              <a:rPr lang="en-US" dirty="0"/>
              <a:t>:</a:t>
            </a:r>
          </a:p>
          <a:p>
            <a:pPr marL="0" indent="0" algn="l">
              <a:buNone/>
            </a:pPr>
            <a:r>
              <a:rPr lang="en-US" dirty="0"/>
              <a:t>We added a custom classification head on top of it:</a:t>
            </a:r>
          </a:p>
          <a:p>
            <a:pPr algn="l" rtl="0"/>
            <a:r>
              <a:rPr lang="en-US" dirty="0"/>
              <a:t>GlobalAveragePooling2D </a:t>
            </a:r>
          </a:p>
          <a:p>
            <a:pPr algn="l" rtl="0"/>
            <a:r>
              <a:rPr lang="en-US" dirty="0"/>
              <a:t>Dense layer (64 units, </a:t>
            </a:r>
            <a:r>
              <a:rPr lang="en-US" dirty="0" err="1"/>
              <a:t>ReLU</a:t>
            </a:r>
            <a:r>
              <a:rPr lang="en-US" dirty="0"/>
              <a:t> activation) </a:t>
            </a:r>
          </a:p>
          <a:p>
            <a:pPr algn="l" rtl="0"/>
            <a:r>
              <a:rPr lang="en-US" dirty="0"/>
              <a:t>Dropout (0.3) </a:t>
            </a:r>
          </a:p>
          <a:p>
            <a:pPr algn="l" rtl="0"/>
            <a:r>
              <a:rPr lang="en-US" dirty="0"/>
              <a:t>Dense layer (1 unit, Sigmoid activation) </a:t>
            </a:r>
          </a:p>
          <a:p>
            <a:pPr algn="l" rtl="0"/>
            <a:r>
              <a:rPr lang="en-US" dirty="0"/>
              <a:t>Only the newly added layers were trained using a </a:t>
            </a:r>
            <a:r>
              <a:rPr lang="en-US" b="1" dirty="0"/>
              <a:t>learning rate of 1e-3</a:t>
            </a:r>
            <a:r>
              <a:rPr lang="en-US" dirty="0"/>
              <a:t>.</a:t>
            </a:r>
          </a:p>
          <a:p>
            <a:pPr marL="0" indent="0" algn="l">
              <a:buNone/>
            </a:pPr>
            <a:r>
              <a:rPr lang="en-US" b="1" dirty="0"/>
              <a:t>Goal:</a:t>
            </a:r>
          </a:p>
          <a:p>
            <a:pPr marL="0" indent="0" algn="l">
              <a:buNone/>
            </a:pPr>
            <a:r>
              <a:rPr lang="en-US" dirty="0"/>
              <a:t>To quickly learn how to classify the data using the already extracted features from MobileNetV2, without modifying the pre-trained weights.</a:t>
            </a:r>
          </a:p>
          <a:p>
            <a:pPr marL="0" indent="0" algn="l"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13331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191C-8E57-46CA-04E9-B60F4C1C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Stage 2: Fine-Tuning (Partial Unfreezing)</a:t>
            </a:r>
            <a:endParaRPr lang="ar-E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3FCA-F513-CBC1-863A-A0A205CE8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864"/>
            <a:ext cx="10515600" cy="3882001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/>
              <a:t>-In this stage, we </a:t>
            </a:r>
            <a:r>
              <a:rPr lang="en-US" dirty="0" err="1"/>
              <a:t>unfreezed</a:t>
            </a:r>
            <a:r>
              <a:rPr lang="en-US" dirty="0"/>
              <a:t> part of the base model:</a:t>
            </a:r>
          </a:p>
          <a:p>
            <a:pPr algn="l" rtl="0"/>
            <a:r>
              <a:rPr lang="en-US" dirty="0"/>
              <a:t>This means only the </a:t>
            </a:r>
            <a:r>
              <a:rPr lang="en-US" b="1" dirty="0"/>
              <a:t>last 20 layers of MobileNetV2</a:t>
            </a:r>
            <a:r>
              <a:rPr lang="en-US" dirty="0"/>
              <a:t> were trainable, while the rest remained frozen.</a:t>
            </a:r>
          </a:p>
          <a:p>
            <a:pPr algn="l" rtl="0"/>
            <a:r>
              <a:rPr lang="en-US" dirty="0"/>
              <a:t>We used a much smaller learning rate of </a:t>
            </a:r>
            <a:r>
              <a:rPr lang="en-US" b="1" dirty="0"/>
              <a:t>1e-5</a:t>
            </a:r>
            <a:r>
              <a:rPr lang="en-US" dirty="0"/>
              <a:t> to avoid destroying the pre-trained weights.</a:t>
            </a:r>
          </a:p>
          <a:p>
            <a:pPr algn="l" rtl="0"/>
            <a:r>
              <a:rPr lang="en-US" b="1" dirty="0"/>
              <a:t>Goal:</a:t>
            </a:r>
          </a:p>
          <a:p>
            <a:pPr algn="l" rtl="0"/>
            <a:r>
              <a:rPr lang="en-US" dirty="0"/>
              <a:t>To slightly adjust the high-level features of the model so they better fit our specific dataset.</a:t>
            </a:r>
          </a:p>
          <a:p>
            <a:pPr marL="0" indent="0" algn="l" rtl="0"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277317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3149B9-224E-409C-E3D3-6A7321127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97931"/>
            <a:ext cx="10905066" cy="40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0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401BDF-75B2-3FAF-B3DD-D88752A23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11562"/>
            <a:ext cx="10905066" cy="403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36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E856-F36F-81F9-4A40-CB04C3EA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 rtl="0"/>
            <a:r>
              <a:rPr lang="en-US" sz="5200" dirty="0"/>
              <a:t>Difference Between two model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0298570-3C46-8315-908F-F92ACB26F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Transfer learning</a:t>
            </a:r>
            <a:endParaRPr lang="ar-EG" sz="3200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95E0FB72-C7F4-B1B0-536E-3E9F911BF0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181" y="2696093"/>
            <a:ext cx="5157787" cy="3630964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611DB0F-B8F9-5AAB-19FB-ED55A44B81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50" y="2696093"/>
            <a:ext cx="5157787" cy="3630965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C96EDD8-707D-FC48-B7AE-EB39F5DFD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From scratch</a:t>
            </a:r>
            <a:endParaRPr lang="ar-EG" sz="3600" dirty="0"/>
          </a:p>
        </p:txBody>
      </p:sp>
    </p:spTree>
    <p:extLst>
      <p:ext uri="{BB962C8B-B14F-4D97-AF65-F5344CB8AC3E}">
        <p14:creationId xmlns:p14="http://schemas.microsoft.com/office/powerpoint/2010/main" val="375718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886593-0308-41ce-bff6-12aea470eb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DEBEED7BFFA24AB411D7E49103B976" ma:contentTypeVersion="6" ma:contentTypeDescription="Create a new document." ma:contentTypeScope="" ma:versionID="74613d6acd28048f1286bc09e664a7bc">
  <xsd:schema xmlns:xsd="http://www.w3.org/2001/XMLSchema" xmlns:xs="http://www.w3.org/2001/XMLSchema" xmlns:p="http://schemas.microsoft.com/office/2006/metadata/properties" xmlns:ns3="8e886593-0308-41ce-bff6-12aea470ebf6" targetNamespace="http://schemas.microsoft.com/office/2006/metadata/properties" ma:root="true" ma:fieldsID="6124907e17b860a1dc00b8fefc4b13af" ns3:_="">
    <xsd:import namespace="8e886593-0308-41ce-bff6-12aea470ebf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86593-0308-41ce-bff6-12aea470ebf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87AE51-E640-4A1D-AA6C-C87B378D71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9922B-9A2E-4EF7-8D3A-D88AD0B389E7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e886593-0308-41ce-bff6-12aea470ebf6"/>
  </ds:schemaRefs>
</ds:datastoreItem>
</file>

<file path=customXml/itemProps3.xml><?xml version="1.0" encoding="utf-8"?>
<ds:datastoreItem xmlns:ds="http://schemas.openxmlformats.org/officeDocument/2006/customXml" ds:itemID="{EAC2923A-0627-4E35-8056-19712D9847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886593-0308-41ce-bff6-12aea470eb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286</Words>
  <Application>Microsoft Office PowerPoint</Application>
  <PresentationFormat>Widescreen</PresentationFormat>
  <Paragraphs>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Deep Drowsiness Detection</vt:lpstr>
      <vt:lpstr>🧠 Section 1: Training a Model</vt:lpstr>
      <vt:lpstr>PowerPoint Presentation</vt:lpstr>
      <vt:lpstr>PowerPoint Presentation</vt:lpstr>
      <vt:lpstr>Convolution Neural Nets</vt:lpstr>
      <vt:lpstr>? What is pooling</vt:lpstr>
      <vt:lpstr>CNN Architecture</vt:lpstr>
      <vt:lpstr>-:Build CNN model from scratch</vt:lpstr>
      <vt:lpstr>1- Preprocessing</vt:lpstr>
      <vt:lpstr>PowerPoint Presentation</vt:lpstr>
      <vt:lpstr>Evaluation the model</vt:lpstr>
      <vt:lpstr>PowerPoint Presentation</vt:lpstr>
      <vt:lpstr>PowerPoint Presentation</vt:lpstr>
      <vt:lpstr>Transfer Learning Approach (MobileNetV2)</vt:lpstr>
      <vt:lpstr>Stage 1: Head Training (Feature Extractor Frozen)</vt:lpstr>
      <vt:lpstr>Stage 2: Fine-Tuning (Partial Unfreezing)</vt:lpstr>
      <vt:lpstr>PowerPoint Presentation</vt:lpstr>
      <vt:lpstr>PowerPoint Presentation</vt:lpstr>
      <vt:lpstr>Difference Between two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Salaheldin mountaser mohamed haroun</dc:creator>
  <cp:lastModifiedBy>Salaheldin mountaser mohamed haroun</cp:lastModifiedBy>
  <cp:revision>3</cp:revision>
  <dcterms:created xsi:type="dcterms:W3CDTF">2026-05-09T14:07:42Z</dcterms:created>
  <dcterms:modified xsi:type="dcterms:W3CDTF">2026-05-11T16:15:30Z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0x0101008ADEBEED7BFFA24AB411D7E49103B976</vt:lpwstr>
  </property>
</Properties>
</file>